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73152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 i="0">
                <a:solidFill>
                  <a:srgbClr val="101E38"/>
                </a:solidFill>
                <a:latin typeface="Calibri"/>
              </a:rPr>
              <a:t>€3B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8F0FF"/>
                </a:solidFill>
                <a:latin typeface="Calibri"/>
              </a:rPr>
              <a:t>60–70% of EV batteries get destroyed.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7A92B4"/>
                </a:solidFill>
                <a:latin typeface="Calibri"/>
              </a:rPr>
              <a:t>Not because they're bad.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4ADE80"/>
                </a:solidFill>
                <a:latin typeface="Calibri"/>
              </a:rPr>
              <a:t>Because nobody trusts the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8620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A92B4"/>
                </a:solidFill>
                <a:latin typeface="Calibri"/>
              </a:rPr>
              <a:t>€1–3 Billion destroyed annually.  We fix the trust layer.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4ADE80"/>
                </a:solidFill>
                <a:latin typeface="Calibri"/>
              </a:rPr>
              <a:t>TrustLayer VeriCell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8F0FF"/>
                </a:solidFill>
                <a:latin typeface="Calibri"/>
              </a:rPr>
              <a:t>The Battery Data Crisis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18488"/>
            <a:ext cx="73152" cy="228600"/>
          </a:xfrm>
          <a:prstGeom prst="rect">
            <a:avLst/>
          </a:prstGeom>
          <a:solidFill>
            <a:srgbClr val="4ADE8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0FF"/>
                </a:solidFill>
                <a:latin typeface="Calibri"/>
              </a:rPr>
              <a:t>EU Reg. 2023/1542 mandates a Digital Product Passport for every EV battery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73152" cy="228600"/>
          </a:xfrm>
          <a:prstGeom prst="rect">
            <a:avLst/>
          </a:prstGeom>
          <a:solidFill>
            <a:srgbClr val="4ADE8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5915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7A92B4"/>
                </a:solidFill>
                <a:latin typeface="Calibri"/>
              </a:rPr>
              <a:t>102 data points: carbon footprint, health, recycled content,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27832"/>
            <a:ext cx="73152" cy="228600"/>
          </a:xfrm>
          <a:prstGeom prst="rect">
            <a:avLst/>
          </a:prstGeom>
          <a:solidFill>
            <a:srgbClr val="F8717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63824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BBF24"/>
                </a:solidFill>
                <a:latin typeface="Calibri"/>
              </a:rPr>
              <a:t>Manufacturers self-report.  Nobody cross-validates.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32504"/>
            <a:ext cx="73152" cy="228600"/>
          </a:xfrm>
          <a:prstGeom prst="rect">
            <a:avLst/>
          </a:prstGeom>
          <a:solidFill>
            <a:srgbClr val="4ADE8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968496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E8F0FF"/>
                </a:solidFill>
                <a:latin typeface="Calibri"/>
              </a:rPr>
              <a:t>Buyers can't trust SoH claims.  Regulators can't enforce compliance.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37176"/>
            <a:ext cx="73152" cy="228600"/>
          </a:xfrm>
          <a:prstGeom prst="rect">
            <a:avLst/>
          </a:prstGeom>
          <a:solidFill>
            <a:srgbClr val="F8717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773168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7171"/>
                </a:solidFill>
                <a:latin typeface="Calibri"/>
              </a:rPr>
              <a:t>Result: batteries are scrapped instead of reused — billions wasted.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F0FF"/>
                </a:solidFill>
                <a:latin typeface="Calibri"/>
              </a:rPr>
              <a:t>Three Stakeholders. One Missing Layer.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566160" cy="4389120"/>
          </a:xfrm>
          <a:prstGeom prst="rect">
            <a:avLst/>
          </a:prstGeom>
          <a:solidFill>
            <a:srgbClr val="0D15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566160" cy="548640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8191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0A12"/>
                </a:solidFill>
                <a:latin typeface="Calibri"/>
              </a:rPr>
              <a:t>🏢  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Cannot verify supplier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No ERP action on bad 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4904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Compliance risk from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Cross-border data inconsistency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8808" y="1508760"/>
            <a:ext cx="3566160" cy="4389120"/>
          </a:xfrm>
          <a:prstGeom prst="rect">
            <a:avLst/>
          </a:prstGeom>
          <a:solidFill>
            <a:srgbClr val="0D152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78808" y="1508760"/>
            <a:ext cx="3566160" cy="548640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158191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0A12"/>
                </a:solidFill>
                <a:latin typeface="Calibri"/>
              </a:rPr>
              <a:t>🏛  Regulator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19456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Cannot detect who falsifies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97180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No centralized violation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74904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Manual audits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4526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No real-time EU-wide 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6" y="1508760"/>
            <a:ext cx="3566160" cy="4389120"/>
          </a:xfrm>
          <a:prstGeom prst="rect">
            <a:avLst/>
          </a:prstGeom>
          <a:solidFill>
            <a:srgbClr val="0D152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1856" y="1508760"/>
            <a:ext cx="3566160" cy="548640"/>
          </a:xfrm>
          <a:prstGeom prst="rect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158191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0A12"/>
                </a:solidFill>
                <a:latin typeface="Calibri"/>
              </a:rPr>
              <a:t>👤  Consumer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219456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Pays €10K+ with no reliable health info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297180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No trusted certificate at point of sale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374904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Cannot assess second-life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452628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F0FF"/>
                </a:solidFill>
                <a:latin typeface="Calibri"/>
              </a:rPr>
              <a:t>• No recourse if data was wrong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F0FF"/>
                </a:solidFill>
                <a:latin typeface="Calibri"/>
              </a:rPr>
              <a:t>Existing Tools Store Data. Nobody Validates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1274552" cy="457200"/>
          </a:xfrm>
          <a:prstGeom prst="rect">
            <a:avLst/>
          </a:prstGeom>
          <a:solidFill>
            <a:srgbClr val="1E3050"/>
          </a:solidFill>
          <a:ln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8191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F0FF"/>
                </a:solidFill>
                <a:latin typeface="Calibri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8191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F0FF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58191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F0FF"/>
                </a:solidFill>
                <a:latin typeface="Calibri"/>
              </a:rPr>
              <a:t>What's Missing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11274552" cy="658368"/>
          </a:xfrm>
          <a:prstGeom prst="rect">
            <a:avLst/>
          </a:prstGeom>
          <a:solidFill>
            <a:srgbClr val="0D1526"/>
          </a:solidFill>
          <a:ln w="635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9397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Minespider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93976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A92B4"/>
                </a:solidFill>
                <a:latin typeface="Calibri"/>
              </a:rPr>
              <a:t>Blockchain supply chain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093976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87171"/>
                </a:solidFill>
                <a:latin typeface="Calibri"/>
              </a:rPr>
              <a:t>No cross-field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42616"/>
            <a:ext cx="11274552" cy="658368"/>
          </a:xfrm>
          <a:prstGeom prst="rect">
            <a:avLst/>
          </a:prstGeom>
          <a:solidFill>
            <a:srgbClr val="0A1222"/>
          </a:solidFill>
          <a:ln w="635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5234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Spherity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752344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A92B4"/>
                </a:solidFill>
                <a:latin typeface="Calibri"/>
              </a:rPr>
              <a:t>Digital identity credentials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75234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87171"/>
                </a:solidFill>
                <a:latin typeface="Calibri"/>
              </a:rPr>
              <a:t>No trust scoring or ERP 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00984"/>
            <a:ext cx="11274552" cy="658368"/>
          </a:xfrm>
          <a:prstGeom prst="rect">
            <a:avLst/>
          </a:prstGeom>
          <a:solidFill>
            <a:srgbClr val="0D1526"/>
          </a:solidFill>
          <a:ln w="635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107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Circulor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41071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A92B4"/>
                </a:solidFill>
                <a:latin typeface="Calibri"/>
              </a:rPr>
              <a:t>Traceability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41071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87171"/>
                </a:solidFill>
                <a:latin typeface="Calibri"/>
              </a:rPr>
              <a:t>No procurement decision output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959352"/>
            <a:ext cx="11274552" cy="658368"/>
          </a:xfrm>
          <a:prstGeom prst="rect">
            <a:avLst/>
          </a:prstGeom>
          <a:solidFill>
            <a:srgbClr val="0A1222"/>
          </a:solidFill>
          <a:ln w="635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Raw DPP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0690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7A92B4"/>
                </a:solidFill>
                <a:latin typeface="Calibri"/>
              </a:rPr>
              <a:t>Self-reported data container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690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87171"/>
                </a:solidFill>
                <a:latin typeface="Calibri"/>
              </a:rPr>
              <a:t>Anyone can type any number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11274552" cy="594360"/>
          </a:xfrm>
          <a:prstGeom prst="rect">
            <a:avLst/>
          </a:prstGeom>
          <a:solidFill>
            <a:srgbClr val="1A0808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624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87171"/>
                </a:solidFill>
                <a:latin typeface="Calibri"/>
              </a:rPr>
              <a:t>The data exists.  The trust doesn't.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4ADE80"/>
                </a:solidFill>
                <a:latin typeface="Calibri"/>
              </a:rPr>
              <a:t>TrustLayer VeriCell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8F0FF"/>
                </a:solidFill>
                <a:latin typeface="Calibri"/>
              </a:rPr>
              <a:t>AI-powered trust validation for battery DPP data —
turning unverified passports into live ERP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3464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63240"/>
            <a:ext cx="3383280" cy="2560320"/>
          </a:xfrm>
          <a:prstGeom prst="rect">
            <a:avLst/>
          </a:prstGeom>
          <a:solidFill>
            <a:srgbClr val="0D1526"/>
          </a:solidFill>
          <a:ln w="317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8F0FF"/>
                </a:solidFill>
                <a:latin typeface="Calibri"/>
              </a:rPr>
              <a:t>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DE80"/>
                </a:solidFill>
                <a:latin typeface="Calibri"/>
              </a:rPr>
              <a:t>Trust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63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A92B4"/>
                </a:solidFill>
                <a:latin typeface="Calibri"/>
              </a:rPr>
              <a:t>0 –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3063240"/>
            <a:ext cx="3383280" cy="2560320"/>
          </a:xfrm>
          <a:prstGeom prst="rect">
            <a:avLst/>
          </a:prstGeom>
          <a:solidFill>
            <a:srgbClr val="0D1526"/>
          </a:solidFill>
          <a:ln w="317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3337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8F0FF"/>
                </a:solidFill>
                <a:latin typeface="Calibri"/>
              </a:rPr>
              <a:t>⚖️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41148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BBF24"/>
                </a:solidFill>
                <a:latin typeface="Calibri"/>
              </a:rPr>
              <a:t>Decision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4663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A92B4"/>
                </a:solidFill>
                <a:latin typeface="Calibri"/>
              </a:rPr>
              <a:t>APPROVE / REVIEW / BLOCK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0416" y="3063240"/>
            <a:ext cx="3383280" cy="2560320"/>
          </a:xfrm>
          <a:prstGeom prst="rect">
            <a:avLst/>
          </a:prstGeom>
          <a:solidFill>
            <a:srgbClr val="0D1526"/>
          </a:solidFill>
          <a:ln w="317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416" y="3337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8F0FF"/>
                </a:solidFill>
                <a:latin typeface="Calibri"/>
              </a:rPr>
              <a:t>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0416" y="41148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0A5FA"/>
                </a:solidFill>
                <a:latin typeface="Calibri"/>
              </a:rPr>
              <a:t>ERP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0416" y="46634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A92B4"/>
                </a:solidFill>
                <a:latin typeface="Calibri"/>
              </a:rPr>
              <a:t>Live sync to procurement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0FF"/>
                </a:solidFill>
                <a:latin typeface="Calibri"/>
              </a:rPr>
              <a:t>The Validation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560320" cy="2011680"/>
          </a:xfrm>
          <a:prstGeom prst="rect">
            <a:avLst/>
          </a:prstGeom>
          <a:solidFill>
            <a:srgbClr val="0D1526"/>
          </a:solidFill>
          <a:ln w="25400">
            <a:solidFill>
              <a:srgbClr val="7A9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A92B4"/>
                </a:solidFill>
                <a:latin typeface="Calibri"/>
              </a:rPr>
              <a:t>Battery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102 data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414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13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EU DPP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057400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E305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28416" y="1371600"/>
            <a:ext cx="2560320" cy="2011680"/>
          </a:xfrm>
          <a:prstGeom prst="rect">
            <a:avLst/>
          </a:prstGeom>
          <a:solidFill>
            <a:srgbClr val="0D152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28416" y="15087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ADE80"/>
                </a:solidFill>
                <a:latin typeface="Calibri"/>
              </a:rPr>
              <a:t>Trust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9856" y="205740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6 AI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24414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8 math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28254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4 compliance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2057400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E3050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1371600"/>
            <a:ext cx="2560320" cy="2011680"/>
          </a:xfrm>
          <a:prstGeom prst="rect">
            <a:avLst/>
          </a:prstGeom>
          <a:solidFill>
            <a:srgbClr val="0D15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15087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BBF24"/>
                </a:solidFill>
                <a:latin typeface="Calibri"/>
              </a:rPr>
              <a:t>Verified Passport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05740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Trust Score + Badge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4414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APPROVE/REVIEW/BLOCK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8254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QR Cert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057400"/>
            <a:ext cx="274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E305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53728" y="1371600"/>
            <a:ext cx="2560320" cy="2011680"/>
          </a:xfrm>
          <a:prstGeom prst="rect">
            <a:avLst/>
          </a:prstGeom>
          <a:solidFill>
            <a:srgbClr val="0D1526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15087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0A5FA"/>
                </a:solidFill>
                <a:latin typeface="Calibri"/>
              </a:rPr>
              <a:t>ERP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05740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Odoo sync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44144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Live write-back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28254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A92B4"/>
                </a:solidFill>
                <a:latin typeface="Calibri"/>
              </a:rPr>
              <a:t>Procurement trigger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2044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576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A92B4"/>
                </a:solidFill>
                <a:latin typeface="Calibri"/>
              </a:rPr>
              <a:t>6 Engine Modules: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1148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Sustainability Scorer (5 sub-scores, weighted)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5720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Authenticity Checker (8 cross-field math checks)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Compliance Tracker (2024 / 2027 / 2031 / 2036)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Sensor Validator (voltage, resistance, temp, SoC)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572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Trust Score Calculator (data quality + evidence)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SoH Composite (5 health parameters)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0FF"/>
                </a:solidFill>
                <a:latin typeface="Calibri"/>
              </a:rPr>
              <a:t>Full EU 2023/1542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DE80"/>
                </a:solidFill>
                <a:latin typeface="Calibri"/>
              </a:rPr>
              <a:t>13 Data Groups (A–M)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A — General Info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B — Carbon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76272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C — Recycled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76272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D — Responsible Sourcing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6946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E — Electrical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6946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F — Conformity &amp; Labelling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6265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G — Composition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96265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H — Authority Information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558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I — Individual Perf.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J — State of 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K — Expected Lifetime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74904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L — Operational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42232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• M — Identification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3258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DE80"/>
                </a:solidFill>
                <a:latin typeface="Calibri"/>
              </a:rPr>
              <a:t>Compliance Timeline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783080"/>
            <a:ext cx="5212080" cy="658368"/>
          </a:xfrm>
          <a:prstGeom prst="rect">
            <a:avLst/>
          </a:prstGeom>
          <a:solidFill>
            <a:srgbClr val="0D1526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85623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DE80"/>
                </a:solidFill>
                <a:latin typeface="Calibri"/>
              </a:rPr>
              <a:t>2024 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87452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DoC, CE marking, labelling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532888"/>
            <a:ext cx="5212080" cy="658368"/>
          </a:xfrm>
          <a:prstGeom prst="rect">
            <a:avLst/>
          </a:prstGeom>
          <a:solidFill>
            <a:srgbClr val="0D152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606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2027 ⚠️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62432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QR code, carbon declaration (Art. 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282696"/>
            <a:ext cx="5212080" cy="658368"/>
          </a:xfrm>
          <a:prstGeom prst="rect">
            <a:avLst/>
          </a:prstGeom>
          <a:solidFill>
            <a:srgbClr val="0D1526"/>
          </a:solidFill>
          <a:ln w="19050">
            <a:solidFill>
              <a:srgbClr val="7A9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35584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A92B4"/>
                </a:solidFill>
                <a:latin typeface="Calibri"/>
              </a:rPr>
              <a:t>2031 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374136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Recycled Co ≥16%, Li ≥6%, Ni ≥6% (Art. 8)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032504"/>
            <a:ext cx="5212080" cy="658368"/>
          </a:xfrm>
          <a:prstGeom prst="rect">
            <a:avLst/>
          </a:prstGeom>
          <a:solidFill>
            <a:srgbClr val="0D1526"/>
          </a:solidFill>
          <a:ln w="19050">
            <a:solidFill>
              <a:srgbClr val="7A9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05656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A92B4"/>
                </a:solidFill>
                <a:latin typeface="Calibri"/>
              </a:rPr>
              <a:t>2036 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123944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Co ≥26%, Li ≥12%, Ni ≥15%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989320"/>
            <a:ext cx="11274552" cy="594360"/>
          </a:xfrm>
          <a:prstGeom prst="rect">
            <a:avLst/>
          </a:prstGeom>
          <a:solidFill>
            <a:srgbClr val="051420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0624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4ADE80"/>
                </a:solidFill>
                <a:latin typeface="Calibri"/>
              </a:rPr>
              <a:t>102 data points  ·  4 compliance horizons  ·  3 chemistry types  ·  13 data groups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0FF"/>
                </a:solidFill>
                <a:latin typeface="Calibri"/>
              </a:rPr>
              <a:t>What Makes It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94960" cy="2331720"/>
          </a:xfrm>
          <a:prstGeom prst="rect">
            <a:avLst/>
          </a:prstGeom>
          <a:solidFill>
            <a:srgbClr val="0D152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904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8F0FF"/>
                </a:solidFill>
                <a:latin typeface="Calibri"/>
              </a:rPr>
              <a:t>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9047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DE80"/>
                </a:solidFill>
                <a:latin typeface="Calibri"/>
              </a:rPr>
              <a:t>Trust Score That Can't Be Gamed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Math-enforced ceiling: max trust = (real_data% × 0.5) + 50
A supplier with 0% verified data cannot score above 50/100.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325880"/>
            <a:ext cx="5394960" cy="2331720"/>
          </a:xfrm>
          <a:prstGeom prst="rect">
            <a:avLst/>
          </a:prstGeom>
          <a:solidFill>
            <a:srgbClr val="0D1526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4904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8F0FF"/>
                </a:solidFill>
                <a:latin typeface="Calibr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49047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0A5FA"/>
                </a:solidFill>
                <a:latin typeface="Calibri"/>
              </a:rPr>
              <a:t>8 Cross-Field Authenticity 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488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V × Ah = kWh  |  Carbon class must match declared value
Cell count must add up  |  Supply chain verifier must be named.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5394960" cy="2331720"/>
          </a:xfrm>
          <a:prstGeom prst="rect">
            <a:avLst/>
          </a:prstGeom>
          <a:solidFill>
            <a:srgbClr val="0D15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050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8F0FF"/>
                </a:solidFill>
                <a:latin typeface="Calibr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0507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BBF24"/>
                </a:solidFill>
                <a:latin typeface="Calibri"/>
              </a:rPr>
              <a:t>Role-Based Access — 4 Levels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Consumer: health + QR certificate
Technician: sensor data + disassembly
Company: supply chain risk + compliance
Regulator: all 102 points, unredacted.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840480"/>
            <a:ext cx="5394960" cy="2331720"/>
          </a:xfrm>
          <a:prstGeom prst="rect">
            <a:avLst/>
          </a:prstGeom>
          <a:solidFill>
            <a:srgbClr val="0D152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0050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8F0FF"/>
                </a:solidFill>
                <a:latin typeface="Calibri"/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7171"/>
                </a:solidFill>
                <a:latin typeface="Calibri"/>
              </a:rPr>
              <a:t>Live ERP Sync (Odoo)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663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BLOCK decision → writes to ERP product record in real-time
No manual entry. Procurement trigger is automatic.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F0FF"/>
                </a:solidFill>
                <a:latin typeface="Calibri"/>
              </a:rPr>
              <a:t>Live Demo — 3 Batteries, Real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1274552" cy="594360"/>
          </a:xfrm>
          <a:prstGeom prst="rect">
            <a:avLst/>
          </a:prstGeom>
          <a:solidFill>
            <a:srgbClr val="2A060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990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87171"/>
                </a:solidFill>
                <a:latin typeface="Calibri"/>
              </a:rPr>
              <a:t>⚠️  1 SUPPLIER BLOCKED — Immediate procurement action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11274552" cy="438912"/>
          </a:xfrm>
          <a:prstGeom prst="rect">
            <a:avLst/>
          </a:prstGeom>
          <a:solidFill>
            <a:srgbClr val="1E3050"/>
          </a:solidFill>
          <a:ln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67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0FF"/>
                </a:solidFill>
                <a:latin typeface="Calibri"/>
              </a:rPr>
              <a:t>Supplier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167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0FF"/>
                </a:solidFill>
                <a:latin typeface="Calibri"/>
              </a:rPr>
              <a:t>Trust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67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0FF"/>
                </a:solidFill>
                <a:latin typeface="Calibri"/>
              </a:rPr>
              <a:t>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167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0FF"/>
                </a:solidFill>
                <a:latin typeface="Calibri"/>
              </a:rPr>
              <a:t>2024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167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F0FF"/>
                </a:solidFill>
                <a:latin typeface="Calibri"/>
              </a:rPr>
              <a:t>Auth Checks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11274552" cy="566928"/>
          </a:xfrm>
          <a:prstGeom prst="rect">
            <a:avLst/>
          </a:prstGeom>
          <a:solidFill>
            <a:srgbClr val="0D1526"/>
          </a:solidFill>
          <a:ln w="635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517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Volvo Cars (NMC811)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517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DE80"/>
                </a:solidFill>
                <a:latin typeface="Calibri"/>
              </a:rPr>
              <a:t>71.5 /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6517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DE80"/>
                </a:solidFill>
                <a:latin typeface="Calibri"/>
              </a:rPr>
              <a:t>✅ 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6517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COMPLIANT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6517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DE80"/>
                </a:solidFill>
                <a:latin typeface="Calibri"/>
              </a:rPr>
              <a:t>8/8 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27248"/>
            <a:ext cx="11274552" cy="566928"/>
          </a:xfrm>
          <a:prstGeom prst="rect">
            <a:avLst/>
          </a:prstGeom>
          <a:solidFill>
            <a:srgbClr val="0D1526"/>
          </a:solidFill>
          <a:ln w="635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21868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BMW Group (NMC712)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2186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  <a:latin typeface="Calibri"/>
              </a:rPr>
              <a:t>65.5 / 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2186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  <a:latin typeface="Calibri"/>
              </a:rPr>
              <a:t>🔄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2186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COMPLIANT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2186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BBF24"/>
                </a:solidFill>
                <a:latin typeface="Calibri"/>
              </a:rPr>
              <a:t>6/8 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11274552" cy="566928"/>
          </a:xfrm>
          <a:prstGeom prst="rect">
            <a:avLst/>
          </a:prstGeom>
          <a:solidFill>
            <a:srgbClr val="0D1526"/>
          </a:solidFill>
          <a:ln w="635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78561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Shenzhen Generic (LFP)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7856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  <a:latin typeface="Calibri"/>
              </a:rPr>
              <a:t>6.0 / 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37856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Calibri"/>
              </a:rPr>
              <a:t>🔴 BLOCK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7856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AT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3785616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87171"/>
                </a:solidFill>
                <a:latin typeface="Calibri"/>
              </a:rPr>
              <a:t>2/5 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463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834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92B4"/>
                </a:solidFill>
                <a:latin typeface="Calibri"/>
              </a:rPr>
              <a:t>→  Drill down → Trust Score gauge → Sync to Odoo ERP → toast confirmation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92B4"/>
                </a:solidFill>
                <a:latin typeface="Calibri"/>
              </a:rPr>
              <a:t>→  Government Portal → EU compliance map → violation chart by EU Article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92B4"/>
                </a:solidFill>
                <a:latin typeface="Calibri"/>
              </a:rPr>
              <a:t>→  Battery Passport → Consumer → QR Certificate (Level 2 Physical Verified badge)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E3050"/>
                </a:solidFill>
                <a:latin typeface="Calibri"/>
              </a:rPr>
              <a:t>[ Replace this area with a live screenshot of the Enterprise Dashboard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0FF"/>
                </a:solidFill>
                <a:latin typeface="Calibri"/>
              </a:rPr>
              <a:t>Built to Be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566160" cy="4846320"/>
          </a:xfrm>
          <a:prstGeom prst="rect">
            <a:avLst/>
          </a:prstGeom>
          <a:solidFill>
            <a:srgbClr val="0D152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566160" cy="502920"/>
          </a:xfrm>
          <a:prstGeom prst="rect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0A12"/>
                </a:solidFill>
                <a:latin typeface="Calibri"/>
              </a:rPr>
              <a:t>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Python 3.11 + Streamlit 1.32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6148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Plotly 5.18 (charts + EU 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11296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xmlrpc.client — stdlib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6110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qrcode[pil] (QR certificates)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01091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python-pptx (this deck!)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78808" y="1371600"/>
            <a:ext cx="3566160" cy="4846320"/>
          </a:xfrm>
          <a:prstGeom prst="rect">
            <a:avLst/>
          </a:prstGeom>
          <a:solidFill>
            <a:srgbClr val="0D1526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78808" y="1371600"/>
            <a:ext cx="3566160" cy="502920"/>
          </a:xfrm>
          <a:prstGeom prst="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144475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0A12"/>
                </a:solidFill>
                <a:latin typeface="Calibri"/>
              </a:rPr>
              <a:t>Data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01168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3 manufacturer JSON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276148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EU DPP format (102 data points)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3511296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Chemistry benchmarks: NMC811, NMC712, LFP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426110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EU compliance thresholds per year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501091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Live Odoo: vericell.odoo.com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6" y="1371600"/>
            <a:ext cx="3566160" cy="4846320"/>
          </a:xfrm>
          <a:prstGeom prst="rect">
            <a:avLst/>
          </a:prstGeom>
          <a:solidFill>
            <a:srgbClr val="0D15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1856" y="1371600"/>
            <a:ext cx="3566160" cy="502920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9016" y="144475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0A12"/>
                </a:solidFill>
                <a:latin typeface="Calibri"/>
              </a:rPr>
              <a:t>Smart Logic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9016" y="201168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@st.cache_data — engine runs once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9016" y="2761488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Deterministic + fully auditable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9016" y="3511296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ERP adapter pattern (swap Odoo→SAP = config change)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9016" y="426110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Trust ceiling formula — ungameable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9016" y="501091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Cross-field math — 8 validation checks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0FF"/>
                </a:solidFill>
                <a:latin typeface="Calibri"/>
              </a:rPr>
              <a:t>Our Unfair Advantage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74552" cy="804672"/>
          </a:xfrm>
          <a:prstGeom prst="rect">
            <a:avLst/>
          </a:prstGeom>
          <a:solidFill>
            <a:srgbClr val="0D152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09728" cy="804672"/>
          </a:xfrm>
          <a:prstGeom prst="rect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264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DE80"/>
                </a:solidFill>
                <a:latin typeface="Calibri"/>
              </a:rPr>
              <a:t>Only platform that outputs ERP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26464"/>
            <a:ext cx="5669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Not dashboards — actual procurement triggers. BLOCK → Odoo writes in real-time.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67712"/>
            <a:ext cx="11274552" cy="804672"/>
          </a:xfrm>
          <a:prstGeom prst="rect">
            <a:avLst/>
          </a:prstGeom>
          <a:solidFill>
            <a:srgbClr val="0D1526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67712"/>
            <a:ext cx="109728" cy="804672"/>
          </a:xfrm>
          <a:prstGeom prst="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22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0A5FA"/>
                </a:solidFill>
                <a:latin typeface="Calibri"/>
              </a:rPr>
              <a:t>ERP-agnostic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322576"/>
            <a:ext cx="5669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Same JSON output works with Odoo, SAP, weclapp, Dynamics. Adapter swap = config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63824"/>
            <a:ext cx="11274552" cy="804672"/>
          </a:xfrm>
          <a:prstGeom prst="rect">
            <a:avLst/>
          </a:prstGeom>
          <a:solidFill>
            <a:srgbClr val="0D15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63824"/>
            <a:ext cx="109728" cy="804672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186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BBF24"/>
                </a:solidFill>
                <a:latin typeface="Calibri"/>
              </a:rPr>
              <a:t>Math-enforced trust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18688"/>
            <a:ext cx="5669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Score formula cannot be gamed. 0% verified data = max score of 50/100. Period.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59936"/>
            <a:ext cx="11274552" cy="804672"/>
          </a:xfrm>
          <a:prstGeom prst="rect">
            <a:avLst/>
          </a:prstGeom>
          <a:solidFill>
            <a:srgbClr val="0D1526"/>
          </a:solidFill>
          <a:ln w="254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59936"/>
            <a:ext cx="109728" cy="804672"/>
          </a:xfrm>
          <a:prstGeom prst="rect">
            <a:avLst/>
          </a:prstGeom>
          <a:solidFill>
            <a:srgbClr val="C084FC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14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084FC"/>
                </a:solidFill>
                <a:latin typeface="Calibri"/>
              </a:rPr>
              <a:t>Private trust layer — no regulatory approval needed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114800"/>
            <a:ext cx="5669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Like AVILOO for used EVs. We issue the badge. Buyers pay more for certified batteries.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56048"/>
            <a:ext cx="11274552" cy="804672"/>
          </a:xfrm>
          <a:prstGeom prst="rect">
            <a:avLst/>
          </a:prstGeom>
          <a:solidFill>
            <a:srgbClr val="0D1526"/>
          </a:solidFill>
          <a:ln w="254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956048"/>
            <a:ext cx="109728" cy="804672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109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87171"/>
                </a:solidFill>
                <a:latin typeface="Calibri"/>
              </a:rPr>
              <a:t>Right timing — mandatory from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010912"/>
            <a:ext cx="5669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92B4"/>
                </a:solidFill>
                <a:latin typeface="Calibri"/>
              </a:rPr>
              <a:t>EU DPP is law. Every battery maker needs validation. We build the layer now.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0FF"/>
                </a:solidFill>
                <a:latin typeface="Calibri"/>
              </a:rPr>
              <a:t>What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566160" cy="4389120"/>
          </a:xfrm>
          <a:prstGeom prst="rect">
            <a:avLst/>
          </a:prstGeom>
          <a:solidFill>
            <a:srgbClr val="0D15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566160" cy="548640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0A12"/>
                </a:solidFill>
                <a:latin typeface="Calibri"/>
              </a:rPr>
              <a:t>🏢  For Companies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14884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Automated supplier risk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95351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ERP blocks bad batteries before procurement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758184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Compliance evidence ready for audits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562856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Real-time decision — no manual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8808" y="1463040"/>
            <a:ext cx="3566160" cy="4389120"/>
          </a:xfrm>
          <a:prstGeom prst="rect">
            <a:avLst/>
          </a:prstGeom>
          <a:solidFill>
            <a:srgbClr val="0D1526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78808" y="1463040"/>
            <a:ext cx="3566160" cy="548640"/>
          </a:xfrm>
          <a:prstGeom prst="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153619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0A12"/>
                </a:solidFill>
                <a:latin typeface="Calibri"/>
              </a:rPr>
              <a:t>🏛  For Regulators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14884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Real-time violation tracking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95351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EU compliance map by country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758184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Downloadable audit reports per battery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562856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Cross-field fraud detection — automated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6" y="1463040"/>
            <a:ext cx="3566160" cy="4389120"/>
          </a:xfrm>
          <a:prstGeom prst="rect">
            <a:avLst/>
          </a:prstGeom>
          <a:solidFill>
            <a:srgbClr val="0D152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1856" y="1463040"/>
            <a:ext cx="3566160" cy="548640"/>
          </a:xfrm>
          <a:prstGeom prst="rect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1536192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0A12"/>
                </a:solidFill>
                <a:latin typeface="Calibri"/>
              </a:rPr>
              <a:t>🌍  For the Market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2148840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More batteries reused, not destroyed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6448" y="2953512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€3B+ inefficiency reduced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3758184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Trusted second-life battery economy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6448" y="4562856"/>
            <a:ext cx="3246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0FF"/>
                </a:solidFill>
                <a:latin typeface="Calibri"/>
              </a:rPr>
              <a:t>• EU 2027 compliance — ready now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92B4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8F0FF"/>
                </a:solidFill>
                <a:latin typeface="Calibri"/>
              </a:rPr>
              <a:t>Where This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3383280" cy="3200400"/>
          </a:xfrm>
          <a:prstGeom prst="rect">
            <a:avLst/>
          </a:prstGeom>
          <a:solidFill>
            <a:srgbClr val="0D1526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3383280" cy="868680"/>
          </a:xfrm>
          <a:prstGeom prst="rect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60A12"/>
                </a:solidFill>
                <a:latin typeface="Calibri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0A12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Trust Engine + Odoo 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98647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3 manufacturer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19854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4-role access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41061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EU 2023/1542 compliance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41648" y="1371600"/>
            <a:ext cx="3383280" cy="3200400"/>
          </a:xfrm>
          <a:prstGeom prst="rect">
            <a:avLst/>
          </a:prstGeom>
          <a:solidFill>
            <a:srgbClr val="0D1526"/>
          </a:solidFill>
          <a:ln w="254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41648" y="1371600"/>
            <a:ext cx="3383280" cy="868680"/>
          </a:xfrm>
          <a:prstGeom prst="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78808" y="142646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60A12"/>
                </a:solidFill>
                <a:latin typeface="Calibri"/>
              </a:rPr>
              <a:t>6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8288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0A12"/>
                </a:solidFill>
                <a:latin typeface="Calibri"/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2377440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API upload portal for manufacturers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898647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SAP / weclapp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808" y="3419854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Level 3: TÜV co-signed certs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3941061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Onboard first paying customer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71816" y="1371600"/>
            <a:ext cx="3383280" cy="3200400"/>
          </a:xfrm>
          <a:prstGeom prst="rect">
            <a:avLst/>
          </a:prstGeom>
          <a:solidFill>
            <a:srgbClr val="0D1526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71816" y="1371600"/>
            <a:ext cx="3383280" cy="868680"/>
          </a:xfrm>
          <a:prstGeom prst="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8976" y="142646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60A12"/>
                </a:solidFill>
                <a:latin typeface="Calibri"/>
              </a:rPr>
              <a:t>12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18288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0A12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6" y="2377440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Insurance &amp; leasing data feed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2898647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White-label engine for ERP vendors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08976" y="3419854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Solar + industrial battery expansion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08976" y="3941061"/>
            <a:ext cx="3154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0FF"/>
                </a:solidFill>
                <a:latin typeface="Calibri"/>
              </a:rPr>
              <a:t>• Pan-EU rollout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754880"/>
            <a:ext cx="11274552" cy="1691640"/>
          </a:xfrm>
          <a:prstGeom prst="rect">
            <a:avLst/>
          </a:prstGeom>
          <a:solidFill>
            <a:srgbClr val="051420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846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DE80"/>
                </a:solidFill>
                <a:latin typeface="Calibri"/>
              </a:rPr>
              <a:t>Revenue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€30–80 / battery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7607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92B4"/>
                </a:solidFill>
                <a:latin typeface="Calibri"/>
              </a:rPr>
              <a:t>per validation (second-life operators)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399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€1.5K–5K / month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399" y="57607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92B4"/>
                </a:solidFill>
                <a:latin typeface="Calibri"/>
              </a:rPr>
              <a:t>SaaS license (fleet operators, recyclers)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38" y="5303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BF24"/>
                </a:solidFill>
                <a:latin typeface="Calibri"/>
              </a:rPr>
              <a:t>€50K–500K /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38" y="57607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92B4"/>
                </a:solidFill>
                <a:latin typeface="Calibri"/>
              </a:rPr>
              <a:t>enterprise + insurance data contracts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7A92B4"/>
                </a:solidFill>
                <a:latin typeface="Calibri"/>
              </a:rPr>
              <a:t>The data already exists.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7A92B4"/>
                </a:solidFill>
                <a:latin typeface="Calibri"/>
              </a:rPr>
              <a:t>The regulation is already written.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8F0FF"/>
                </a:solidFill>
                <a:latin typeface="Calibri"/>
              </a:rPr>
              <a:t>The problem costs €3 billion a year.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977639"/>
            <a:ext cx="11274552" cy="12700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4ADE80"/>
                </a:solidFill>
                <a:latin typeface="Calibri"/>
              </a:rPr>
              <a:t>We built the layer that connects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A92B4"/>
                </a:solidFill>
                <a:latin typeface="Calibri"/>
              </a:rPr>
              <a:t>TrustLayer VeriCell  —  Trust the battery. Trust the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