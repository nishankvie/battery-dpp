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73152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 i="0">
                <a:solidFill>
                  <a:srgbClr val="101E38"/>
                </a:solidFill>
                <a:latin typeface="Calibri"/>
              </a:rPr>
              <a:t>€3B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F0FF"/>
                </a:solidFill>
                <a:latin typeface="Calibri"/>
              </a:rPr>
              <a:t>60–70% of EV batteries get destroyed.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7A92B4"/>
                </a:solidFill>
                <a:latin typeface="Calibri"/>
              </a:rPr>
              <a:t>Not because they're bad.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ADE80"/>
                </a:solidFill>
                <a:latin typeface="Calibri"/>
              </a:rPr>
              <a:t>Because nobody trusts the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8620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A92B4"/>
                </a:solidFill>
                <a:latin typeface="Calibri"/>
              </a:rPr>
              <a:t>€1–3 Billion destroyed annually.  We fix the trust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309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4ADE80"/>
                </a:solidFill>
                <a:latin typeface="Calibri"/>
              </a:rPr>
              <a:t>TrustLayer VeriCell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F0FF"/>
                </a:solidFill>
                <a:latin typeface="Calibri"/>
              </a:rPr>
              <a:t>The Battery Data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18488"/>
            <a:ext cx="73152" cy="228600"/>
          </a:xfrm>
          <a:prstGeom prst="rect">
            <a:avLst/>
          </a:prstGeom>
          <a:solidFill>
            <a:srgbClr val="4ADE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0FF"/>
                </a:solidFill>
                <a:latin typeface="Calibri"/>
              </a:rPr>
              <a:t>EU Reg. 2023/1542 mandates a Digital Product Passport for every EV battery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73152" cy="228600"/>
          </a:xfrm>
          <a:prstGeom prst="rect">
            <a:avLst/>
          </a:prstGeom>
          <a:solidFill>
            <a:srgbClr val="4ADE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591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7A92B4"/>
                </a:solidFill>
                <a:latin typeface="Calibri"/>
              </a:rPr>
              <a:t>102 data points: carbon footprint, health, recycled content, supply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27832"/>
            <a:ext cx="73152" cy="228600"/>
          </a:xfrm>
          <a:prstGeom prst="rect">
            <a:avLst/>
          </a:prstGeom>
          <a:solidFill>
            <a:srgbClr val="F8717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6382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BBF24"/>
                </a:solidFill>
                <a:latin typeface="Calibri"/>
              </a:rPr>
              <a:t>Manufacturers self-report.  Nobody cross-validates.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32504"/>
            <a:ext cx="73152" cy="228600"/>
          </a:xfrm>
          <a:prstGeom prst="rect">
            <a:avLst/>
          </a:prstGeom>
          <a:solidFill>
            <a:srgbClr val="4ADE8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684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0FF"/>
                </a:solidFill>
                <a:latin typeface="Calibri"/>
              </a:rPr>
              <a:t>Buyers can't trust SoH claims.  Regulators can't enforce compliance.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37176"/>
            <a:ext cx="73152" cy="228600"/>
          </a:xfrm>
          <a:prstGeom prst="rect">
            <a:avLst/>
          </a:prstGeom>
          <a:solidFill>
            <a:srgbClr val="F8717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731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7171"/>
                </a:solidFill>
                <a:latin typeface="Calibri"/>
              </a:rPr>
              <a:t>Result: batteries are scrapped instead of reused — billions wasted.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F0FF"/>
                </a:solidFill>
                <a:latin typeface="Calibri"/>
              </a:rPr>
              <a:t>Three Stakeholders. One Missing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566160" cy="4389120"/>
          </a:xfrm>
          <a:prstGeom prst="rect">
            <a:avLst/>
          </a:prstGeom>
          <a:solidFill>
            <a:srgbClr val="0D15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566160" cy="54864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0A12"/>
                </a:solidFill>
                <a:latin typeface="Calibri"/>
              </a:rPr>
              <a:t>🏢 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Cannot verify supplier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No ERP action on bad 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Compliance risk from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Cross-border data inconsistency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8" y="1508760"/>
            <a:ext cx="3566160" cy="4389120"/>
          </a:xfrm>
          <a:prstGeom prst="rect">
            <a:avLst/>
          </a:prstGeom>
          <a:solidFill>
            <a:srgbClr val="0D1526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8808" y="1508760"/>
            <a:ext cx="3566160" cy="548640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5819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0A12"/>
                </a:solidFill>
                <a:latin typeface="Calibri"/>
              </a:rPr>
              <a:t>🏛  Regulator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194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Cannot detect who falsifies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971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No centralized violation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74904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Manual audits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45262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No real-time EU-wide 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1508760"/>
            <a:ext cx="3566160" cy="4389120"/>
          </a:xfrm>
          <a:prstGeom prst="rect">
            <a:avLst/>
          </a:prstGeom>
          <a:solidFill>
            <a:srgbClr val="0D152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1508760"/>
            <a:ext cx="3566160" cy="54864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15819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0A12"/>
                </a:solidFill>
                <a:latin typeface="Calibri"/>
              </a:rPr>
              <a:t>👤  Consumer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194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Pays €10K+ with no reliable health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9718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No trusted certificate at point of sale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74904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Cannot assess second-life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45262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F"/>
                </a:solidFill>
                <a:latin typeface="Calibri"/>
              </a:rPr>
              <a:t>• No recourse if data was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F0FF"/>
                </a:solidFill>
                <a:latin typeface="Calibri"/>
              </a:rPr>
              <a:t>Existing Tools Store Data. Nobody Validates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solidFill>
            <a:srgbClr val="1E3050"/>
          </a:solidFill>
          <a:ln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0FF"/>
                </a:solidFill>
                <a:latin typeface="Calibri"/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819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0FF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5819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F0FF"/>
                </a:solidFill>
                <a:latin typeface="Calibri"/>
              </a:rPr>
              <a:t>What's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11274552" cy="658368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939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Minespider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9397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2B4"/>
                </a:solidFill>
                <a:latin typeface="Calibri"/>
              </a:rPr>
              <a:t>Blockchain supply chain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9397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7171"/>
                </a:solidFill>
                <a:latin typeface="Calibri"/>
              </a:rPr>
              <a:t>No cross-field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658368"/>
          </a:xfrm>
          <a:prstGeom prst="rect">
            <a:avLst/>
          </a:prstGeom>
          <a:solidFill>
            <a:srgbClr val="0A1222"/>
          </a:solidFill>
          <a:ln w="63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523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Spherity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5234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2B4"/>
                </a:solidFill>
                <a:latin typeface="Calibri"/>
              </a:rPr>
              <a:t>Digital identity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75234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7171"/>
                </a:solidFill>
                <a:latin typeface="Calibri"/>
              </a:rPr>
              <a:t>No trust scoring or ERP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00984"/>
            <a:ext cx="11274552" cy="658368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107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Circulor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1071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2B4"/>
                </a:solidFill>
                <a:latin typeface="Calibri"/>
              </a:rPr>
              <a:t>Traceability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4107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7171"/>
                </a:solidFill>
                <a:latin typeface="Calibri"/>
              </a:rPr>
              <a:t>No procurement decision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59352"/>
            <a:ext cx="11274552" cy="658368"/>
          </a:xfrm>
          <a:prstGeom prst="rect">
            <a:avLst/>
          </a:prstGeom>
          <a:solidFill>
            <a:srgbClr val="0A1222"/>
          </a:solidFill>
          <a:ln w="63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Raw DPP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069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92B4"/>
                </a:solidFill>
                <a:latin typeface="Calibri"/>
              </a:rPr>
              <a:t>Self-reported data container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069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87171"/>
                </a:solidFill>
                <a:latin typeface="Calibri"/>
              </a:rPr>
              <a:t>Anyone can type any number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1A0808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62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87171"/>
                </a:solidFill>
                <a:latin typeface="Calibri"/>
              </a:rPr>
              <a:t>The data exists.  The trust doesn't.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4ADE80"/>
                </a:solidFill>
                <a:latin typeface="Calibri"/>
              </a:rPr>
              <a:t>TrustLayer VeriCell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F0FF"/>
                </a:solidFill>
                <a:latin typeface="Calibri"/>
              </a:rPr>
              <a:t>AI-powered trust validation for battery DPP data —
turning unverified passports into live ERP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3063240"/>
            <a:ext cx="2633472" cy="2560320"/>
          </a:xfrm>
          <a:prstGeom prst="rect">
            <a:avLst/>
          </a:prstGeom>
          <a:solidFill>
            <a:srgbClr val="0D1526"/>
          </a:solidFill>
          <a:ln w="317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3337560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8F0FF"/>
                </a:solidFill>
                <a:latin typeface="Calibri"/>
              </a:rPr>
              <a:t>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114800"/>
            <a:ext cx="2633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Trust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66344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0 –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9544" y="3063240"/>
            <a:ext cx="2633472" cy="2560320"/>
          </a:xfrm>
          <a:prstGeom prst="rect">
            <a:avLst/>
          </a:prstGeom>
          <a:solidFill>
            <a:srgbClr val="0D1526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3337560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8F0FF"/>
                </a:solidFill>
                <a:latin typeface="Calibri"/>
              </a:rP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4114800"/>
            <a:ext cx="2633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466344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APPROVE / REVIEW /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063240"/>
            <a:ext cx="2633472" cy="2560320"/>
          </a:xfrm>
          <a:prstGeom prst="rect">
            <a:avLst/>
          </a:prstGeom>
          <a:solidFill>
            <a:srgbClr val="0D1526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337560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8F0FF"/>
                </a:solidFill>
                <a:latin typeface="Calibri"/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114800"/>
            <a:ext cx="2633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A5FA"/>
                </a:solidFill>
                <a:latin typeface="Calibri"/>
              </a:rPr>
              <a:t>ERP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66344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Live sync to procurement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0536" y="3063240"/>
            <a:ext cx="2633472" cy="2560320"/>
          </a:xfrm>
          <a:prstGeom prst="rect">
            <a:avLst/>
          </a:prstGeom>
          <a:solidFill>
            <a:srgbClr val="0D1526"/>
          </a:solidFill>
          <a:ln w="317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3337560"/>
            <a:ext cx="2633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E8F0FF"/>
                </a:solidFill>
                <a:latin typeface="Calibri"/>
              </a:rPr>
              <a:t>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4114800"/>
            <a:ext cx="2633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84FC"/>
                </a:solidFill>
                <a:latin typeface="Calibri"/>
              </a:rPr>
              <a:t>Level 2 Badge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4663440"/>
            <a:ext cx="2633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Physical Sensor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F"/>
                </a:solidFill>
                <a:latin typeface="Calibri"/>
              </a:rPr>
              <a:t>The Validation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2011680"/>
          </a:xfrm>
          <a:prstGeom prst="rect">
            <a:avLst/>
          </a:prstGeom>
          <a:solidFill>
            <a:srgbClr val="0D1526"/>
          </a:solidFill>
          <a:ln w="25400">
            <a:solidFill>
              <a:srgbClr val="7A9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92B4"/>
                </a:solidFill>
                <a:latin typeface="Calibri"/>
              </a:rPr>
              <a:t>Battery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102 data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1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13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EU DPP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057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305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416" y="1371600"/>
            <a:ext cx="2560320" cy="2011680"/>
          </a:xfrm>
          <a:prstGeom prst="rect">
            <a:avLst/>
          </a:prstGeom>
          <a:solidFill>
            <a:srgbClr val="0D152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  <a:latin typeface="Calibri"/>
              </a:rPr>
              <a:t>Trust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057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6 AI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41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8 math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8254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+ Physical 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057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305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371600"/>
            <a:ext cx="2560320" cy="2011680"/>
          </a:xfrm>
          <a:prstGeom prst="rect">
            <a:avLst/>
          </a:prstGeom>
          <a:solidFill>
            <a:srgbClr val="0D15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  <a:latin typeface="Calibri"/>
              </a:rPr>
              <a:t>Verified Passport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057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Trust Score + L2 Badge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441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APPROVE/REVIEW/BLOCK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8254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QR Cert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0574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305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3728" y="1371600"/>
            <a:ext cx="2560320" cy="2011680"/>
          </a:xfrm>
          <a:prstGeom prst="rect">
            <a:avLst/>
          </a:prstGeom>
          <a:solidFill>
            <a:srgbClr val="0D1526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A5FA"/>
                </a:solidFill>
                <a:latin typeface="Calibri"/>
              </a:rPr>
              <a:t>ERP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057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Odoo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4414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Live write-back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82549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2B4"/>
                </a:solidFill>
                <a:latin typeface="Calibri"/>
              </a:rPr>
              <a:t>Procurement trigger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2044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92B4"/>
                </a:solidFill>
                <a:latin typeface="Calibri"/>
              </a:rPr>
              <a:t>6 Engine Modules: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Sustainability Scorer (5 sub-scores, weighted)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720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Authenticity Checker (8 cross-field math checks)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Compliance Tracker (2024 / 2027 / 2031 / 2036)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Sensor Validator (voltage, resistance, temp, SoC)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Trust Score Calculator (data quality + evidence)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SoH Composite (5 health parameters)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F"/>
                </a:solidFill>
                <a:latin typeface="Calibri"/>
              </a:rPr>
              <a:t>Full EU 2023/1542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DE80"/>
                </a:solidFill>
                <a:latin typeface="Calibri"/>
              </a:rPr>
              <a:t>13 Data Groups (A–M)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A — General 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B — Carbon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C — Recycled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7627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D — Responsible 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94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E — Electrical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94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F — Conformity &amp; Labelling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6265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G — 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62656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H — Authority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558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I — Individual Perf.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3558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J — State of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K — Expected Lifetime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490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L — Operational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4223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• M — Identification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DE80"/>
                </a:solidFill>
                <a:latin typeface="Calibri"/>
              </a:rPr>
              <a:t>Compliance Timeline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783080"/>
            <a:ext cx="5212080" cy="658368"/>
          </a:xfrm>
          <a:prstGeom prst="rect">
            <a:avLst/>
          </a:prstGeom>
          <a:solidFill>
            <a:srgbClr val="0D152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8562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Calibri"/>
              </a:rPr>
              <a:t>2024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87452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DoC, CE marking, labelling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532888"/>
            <a:ext cx="5212080" cy="658368"/>
          </a:xfrm>
          <a:prstGeom prst="rect">
            <a:avLst/>
          </a:prstGeom>
          <a:solidFill>
            <a:srgbClr val="0D1526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606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2027 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62432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QR code, carbon declaration (Art. 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282696"/>
            <a:ext cx="5212080" cy="658368"/>
          </a:xfrm>
          <a:prstGeom prst="rect">
            <a:avLst/>
          </a:prstGeom>
          <a:solidFill>
            <a:srgbClr val="0D1526"/>
          </a:solidFill>
          <a:ln w="19050">
            <a:solidFill>
              <a:srgbClr val="7A9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3558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92B4"/>
                </a:solidFill>
                <a:latin typeface="Calibri"/>
              </a:rPr>
              <a:t>2031 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7413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Recycled Co ≥16%, Li ≥6%, Ni ≥6% (Art. 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032504"/>
            <a:ext cx="5212080" cy="658368"/>
          </a:xfrm>
          <a:prstGeom prst="rect">
            <a:avLst/>
          </a:prstGeom>
          <a:solidFill>
            <a:srgbClr val="0D1526"/>
          </a:solidFill>
          <a:ln w="19050">
            <a:solidFill>
              <a:srgbClr val="7A9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10565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A92B4"/>
                </a:solidFill>
                <a:latin typeface="Calibri"/>
              </a:rPr>
              <a:t>2036 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123944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Co ≥26%, Li ≥12%, Ni ≥15%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051420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62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4ADE80"/>
                </a:solidFill>
                <a:latin typeface="Calibri"/>
              </a:rPr>
              <a:t>102 data points  ·  4 compliance horizons  ·  3 chemistry types  ·  13 data groups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F"/>
                </a:solidFill>
                <a:latin typeface="Calibri"/>
              </a:rPr>
              <a:t>What Makes It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2331720"/>
          </a:xfrm>
          <a:prstGeom prst="rect">
            <a:avLst/>
          </a:prstGeom>
          <a:solidFill>
            <a:srgbClr val="0D1526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F"/>
                </a:solidFill>
                <a:latin typeface="Calibri"/>
              </a:rPr>
              <a:t>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904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84FC"/>
                </a:solidFill>
                <a:latin typeface="Calibri"/>
              </a:rPr>
              <a:t>Level 2 Physical Sensor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Software validation = Level 1. Level 2 means declared sensor values
(voltage, resistance, SoC, temperature) are cross-validated against
actual BMS readings from the physical battery. No competitor offers this.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5394960" cy="2331720"/>
          </a:xfrm>
          <a:prstGeom prst="rect">
            <a:avLst/>
          </a:prstGeom>
          <a:solidFill>
            <a:srgbClr val="0D152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904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F"/>
                </a:solidFill>
                <a:latin typeface="Calibri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904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DE80"/>
                </a:solidFill>
                <a:latin typeface="Calibri"/>
              </a:rPr>
              <a:t>Trust Score That Can't Be Gamed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Math-enforced ceiling: max trust = (real_data% × 0.5) + 50
A supplier with 0% verified data cannot score above 50/100.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5394960" cy="2331720"/>
          </a:xfrm>
          <a:prstGeom prst="rect">
            <a:avLst/>
          </a:prstGeom>
          <a:solidFill>
            <a:srgbClr val="0D15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050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F"/>
                </a:solidFill>
                <a:latin typeface="Calibr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050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  <a:latin typeface="Calibri"/>
              </a:rPr>
              <a:t>Role-Based Access — 4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Consumer: health + QR certificate
Technician: sensor data + disassembly
Company: supply chain risk + compliance
Regulator: all 102 points, unredacted.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840480"/>
            <a:ext cx="5394960" cy="2331720"/>
          </a:xfrm>
          <a:prstGeom prst="rect">
            <a:avLst/>
          </a:prstGeom>
          <a:solidFill>
            <a:srgbClr val="0D1526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050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0FF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00507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7171"/>
                </a:solidFill>
                <a:latin typeface="Calibri"/>
              </a:rPr>
              <a:t>Live ERP Sync (Odoo)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BLOCK decision → writes to ERP product record in real-time
No manual entry. Procurement trigger is automatic.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F0FF"/>
                </a:solidFill>
                <a:latin typeface="Calibri"/>
              </a:rPr>
              <a:t>Live Demo — 3 Batteries, Real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74552" cy="594360"/>
          </a:xfrm>
          <a:prstGeom prst="rect">
            <a:avLst/>
          </a:prstGeom>
          <a:solidFill>
            <a:srgbClr val="2A0606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7171"/>
                </a:solidFill>
                <a:latin typeface="Calibri"/>
              </a:rPr>
              <a:t>⚠️  1 SUPPLIER BLOCKED — Immediate procurement action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1274552" cy="438912"/>
          </a:xfrm>
          <a:prstGeom prst="rect">
            <a:avLst/>
          </a:prstGeom>
          <a:solidFill>
            <a:srgbClr val="1E3050"/>
          </a:solidFill>
          <a:ln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Supplier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67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Trust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67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67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2024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1671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F"/>
                </a:solidFill>
                <a:latin typeface="Calibri"/>
              </a:rPr>
              <a:t>Auth Checks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1274552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Volvo Cars (NMC811)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DE80"/>
                </a:solidFill>
                <a:latin typeface="Calibri"/>
              </a:rPr>
              <a:t>71.5 /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  <a:latin typeface="Calibri"/>
              </a:rPr>
              <a:t>✅ 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651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COMPLIANT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651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DE80"/>
                </a:solidFill>
                <a:latin typeface="Calibri"/>
              </a:rPr>
              <a:t>8/8 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27248"/>
            <a:ext cx="11274552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18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BMW Group (NMC712)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186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Calibri"/>
              </a:rPr>
              <a:t>65.5 /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2186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🔄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2186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COMPLIANT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186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  <a:latin typeface="Calibri"/>
              </a:rPr>
              <a:t>6/8 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94176"/>
            <a:ext cx="11274552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856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Shenzhen Generic (LFP)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7856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Calibri"/>
              </a:rPr>
              <a:t>6.0 / 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7856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🔴 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7856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78561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7171"/>
                </a:solidFill>
                <a:latin typeface="Calibri"/>
              </a:rPr>
              <a:t>2/5 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983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2B4"/>
                </a:solidFill>
                <a:latin typeface="Calibri"/>
              </a:rPr>
              <a:t>→  Drill down → Trust Score gauge → Sync to Odoo ERP → toast confirmation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2B4"/>
                </a:solidFill>
                <a:latin typeface="Calibri"/>
              </a:rPr>
              <a:t>→  Government Portal → EU compliance map → violation chart by EU Article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2B4"/>
                </a:solidFill>
                <a:latin typeface="Calibri"/>
              </a:rPr>
              <a:t>→  Battery Passport → Consumer → QR Certificate (Level 2 Physical Verified badge)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E3050"/>
                </a:solidFill>
                <a:latin typeface="Calibri"/>
              </a:rPr>
              <a:t>[ Replace this area with a live screenshot of the Enterprise Dashboard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F"/>
                </a:solidFill>
                <a:latin typeface="Calibri"/>
              </a:rPr>
              <a:t>Built to Be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4846320"/>
          </a:xfrm>
          <a:prstGeom prst="rect">
            <a:avLst/>
          </a:prstGeom>
          <a:solidFill>
            <a:srgbClr val="0D152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566160" cy="50292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0A12"/>
                </a:solidFill>
                <a:latin typeface="Calibri"/>
              </a:rP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Python 3.11 + Streamlit 1.32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614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Plotly 5.18 (charts + EU map)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1129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xmlrpc.client — stdlib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61104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qrcode[pil] (QR certificates)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109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python-pptx (this deck!)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8" y="1371600"/>
            <a:ext cx="3566160" cy="4846320"/>
          </a:xfrm>
          <a:prstGeom prst="rect">
            <a:avLst/>
          </a:prstGeom>
          <a:solidFill>
            <a:srgbClr val="0D1526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8808" y="1371600"/>
            <a:ext cx="3566160" cy="50292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4447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0A12"/>
                </a:solidFill>
                <a:latin typeface="Calibri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0116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3 manufacturer JSON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7614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EU DPP format (102 data points)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51129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Chemistry benchmarks: NMC811, NMC712, LFP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4261104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EU compliance thresholds per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50109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Live Odoo: vericell.odoo.com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1371600"/>
            <a:ext cx="3566160" cy="4846320"/>
          </a:xfrm>
          <a:prstGeom prst="rect">
            <a:avLst/>
          </a:prstGeom>
          <a:solidFill>
            <a:srgbClr val="0D15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1371600"/>
            <a:ext cx="3566160" cy="50292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9016" y="14447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0A12"/>
                </a:solidFill>
                <a:latin typeface="Calibri"/>
              </a:rPr>
              <a:t>Smart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20116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@st.cache_data — engine runs once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27614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Deterministic + fully auditable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3511296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ERP adapter pattern (swap Odoo→SAP = config change)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9016" y="4261104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Trust ceiling formula — ungameable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9016" y="501091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Cross-field math — 8 validation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F"/>
                </a:solidFill>
                <a:latin typeface="Calibri"/>
              </a:rPr>
              <a:t>Our Unfair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804672"/>
          </a:xfrm>
          <a:prstGeom prst="rect">
            <a:avLst/>
          </a:prstGeom>
          <a:solidFill>
            <a:srgbClr val="0D1526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804672"/>
          </a:xfrm>
          <a:prstGeom prst="rect">
            <a:avLst/>
          </a:prstGeom>
          <a:solidFill>
            <a:srgbClr val="C084FC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84FC"/>
                </a:solidFill>
                <a:latin typeface="Calibri"/>
              </a:rPr>
              <a:t>🔬  Physical Sensor Verification — no competitor has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26464"/>
            <a:ext cx="5669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Every other platform validates documents. We validate the physical battery. BMS readings vs declared values. Second-life operators can finally trust the SoH.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67712"/>
            <a:ext cx="11274552" cy="804672"/>
          </a:xfrm>
          <a:prstGeom prst="rect">
            <a:avLst/>
          </a:prstGeom>
          <a:solidFill>
            <a:srgbClr val="0D152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67712"/>
            <a:ext cx="109728" cy="804672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225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DE80"/>
                </a:solidFill>
                <a:latin typeface="Calibri"/>
              </a:rPr>
              <a:t>Only platform that outputs ERP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22576"/>
            <a:ext cx="5669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Not dashboards — actual procurement triggers. BLOCK → Odoo writes in real-time.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63824"/>
            <a:ext cx="11274552" cy="804672"/>
          </a:xfrm>
          <a:prstGeom prst="rect">
            <a:avLst/>
          </a:prstGeom>
          <a:solidFill>
            <a:srgbClr val="0D1526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63824"/>
            <a:ext cx="109728" cy="804672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0A5FA"/>
                </a:solidFill>
                <a:latin typeface="Calibri"/>
              </a:rPr>
              <a:t>ERP-agnostic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18688"/>
            <a:ext cx="5669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Same JSON output works with Odoo, SAP, weclapp, Dynamics. Adapter swap = config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9936"/>
            <a:ext cx="11274552" cy="804672"/>
          </a:xfrm>
          <a:prstGeom prst="rect">
            <a:avLst/>
          </a:prstGeom>
          <a:solidFill>
            <a:srgbClr val="0D15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59936"/>
            <a:ext cx="109728" cy="804672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  <a:latin typeface="Calibri"/>
              </a:rPr>
              <a:t>Math-enforced trust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14800"/>
            <a:ext cx="5669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Score formula cannot be gamed. 0% verified data = max score of 50/100. Period.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56048"/>
            <a:ext cx="11274552" cy="804672"/>
          </a:xfrm>
          <a:prstGeom prst="rect">
            <a:avLst/>
          </a:prstGeom>
          <a:solidFill>
            <a:srgbClr val="0D1526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56048"/>
            <a:ext cx="109728" cy="804672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10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7171"/>
                </a:solidFill>
                <a:latin typeface="Calibri"/>
              </a:rPr>
              <a:t>Private trust layer — like AVILOO for used EVs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010912"/>
            <a:ext cx="56692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2B4"/>
                </a:solidFill>
                <a:latin typeface="Calibri"/>
              </a:rPr>
              <a:t>No regulatory approval needed to operate. We issue the badge. Buyers pay more for certified batteries.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F"/>
                </a:solidFill>
                <a:latin typeface="Calibri"/>
              </a:rPr>
              <a:t>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66160" cy="4389120"/>
          </a:xfrm>
          <a:prstGeom prst="rect">
            <a:avLst/>
          </a:prstGeom>
          <a:solidFill>
            <a:srgbClr val="0D15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54864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0A12"/>
                </a:solidFill>
                <a:latin typeface="Calibri"/>
              </a:rPr>
              <a:t>🏢  For Companies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48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Automated supplier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95351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ERP blocks bad batteries before procurement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5818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Compliance evidence ready for audits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56285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Real-time decision — no manual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8" y="1463040"/>
            <a:ext cx="3566160" cy="4389120"/>
          </a:xfrm>
          <a:prstGeom prst="rect">
            <a:avLst/>
          </a:prstGeom>
          <a:solidFill>
            <a:srgbClr val="0D1526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8808" y="1463040"/>
            <a:ext cx="3566160" cy="54864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53619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0A12"/>
                </a:solidFill>
                <a:latin typeface="Calibri"/>
              </a:rPr>
              <a:t>🏛  For Regulators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48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Real-time violation tracking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95351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EU compliance map by country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75818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Downloadable audit reports per battery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56285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Cross-field fraud detection — automated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1463040"/>
            <a:ext cx="3566160" cy="4389120"/>
          </a:xfrm>
          <a:prstGeom prst="rect">
            <a:avLst/>
          </a:prstGeom>
          <a:solidFill>
            <a:srgbClr val="0D152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1463040"/>
            <a:ext cx="3566160" cy="54864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153619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0A12"/>
                </a:solidFill>
                <a:latin typeface="Calibri"/>
              </a:rPr>
              <a:t>🌍  For the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148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More batteries reused, not destroyed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953512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€3B+ inefficiency reduced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75818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Trusted second-life battery economy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4562856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0FF"/>
                </a:solidFill>
                <a:latin typeface="Calibri"/>
              </a:rPr>
              <a:t>• EU 2027 compliance — ready now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B4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F"/>
                </a:solidFill>
                <a:latin typeface="Calibri"/>
              </a:rPr>
              <a:t>Where This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3383280" cy="3200400"/>
          </a:xfrm>
          <a:prstGeom prst="rect">
            <a:avLst/>
          </a:prstGeom>
          <a:solidFill>
            <a:srgbClr val="0D152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383280" cy="868680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0A12"/>
                </a:solidFill>
                <a:latin typeface="Calibr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0A12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Trust Engine + Odoo 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98647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3 manufacturer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19854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4-role access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4106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EU 2023/1542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41648" y="1371600"/>
            <a:ext cx="3383280" cy="3200400"/>
          </a:xfrm>
          <a:prstGeom prst="rect">
            <a:avLst/>
          </a:prstGeom>
          <a:solidFill>
            <a:srgbClr val="0D1526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41648" y="1371600"/>
            <a:ext cx="3383280" cy="86868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8" y="14264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0A12"/>
                </a:solidFill>
                <a:latin typeface="Calibri"/>
              </a:rPr>
              <a:t>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0A12"/>
                </a:solidFill>
                <a:latin typeface="Calibri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2377440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API upload portal for manufacturers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2898647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SAP / weclapp integrations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3419854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Level 3: TÜV co-signed certs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394106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Onboard first paying customer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71816" y="1371600"/>
            <a:ext cx="3383280" cy="3200400"/>
          </a:xfrm>
          <a:prstGeom prst="rect">
            <a:avLst/>
          </a:prstGeom>
          <a:solidFill>
            <a:srgbClr val="0D1526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71816" y="1371600"/>
            <a:ext cx="3383280" cy="86868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14264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0A12"/>
                </a:solidFill>
                <a:latin typeface="Calibri"/>
              </a:rPr>
              <a:t>12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8976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0A12"/>
                </a:solidFill>
                <a:latin typeface="Calibri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2377440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Insurance &amp; leasing data feed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8976" y="2898647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White-label engine for ERP vendors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8976" y="3419854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Solar + industrial battery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8976" y="394106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F"/>
                </a:solidFill>
                <a:latin typeface="Calibri"/>
              </a:rPr>
              <a:t>• Pan-EU rollout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754880"/>
            <a:ext cx="11274552" cy="1691640"/>
          </a:xfrm>
          <a:prstGeom prst="rect">
            <a:avLst/>
          </a:prstGeom>
          <a:solidFill>
            <a:srgbClr val="051420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  <a:latin typeface="Calibri"/>
              </a:rPr>
              <a:t>Revenue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€30–80 / battery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760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2B4"/>
                </a:solidFill>
                <a:latin typeface="Calibri"/>
              </a:rPr>
              <a:t>per validation (second-life operators)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€1.5K–5K /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399" y="5760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2B4"/>
                </a:solidFill>
                <a:latin typeface="Calibri"/>
              </a:rPr>
              <a:t>SaaS license (fleet operators, recyclers)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38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€50K–500K / year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38" y="5760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2B4"/>
                </a:solidFill>
                <a:latin typeface="Calibri"/>
              </a:rPr>
              <a:t>enterprise + insurance data contracts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7A92B4"/>
                </a:solidFill>
                <a:latin typeface="Calibri"/>
              </a:rPr>
              <a:t>Manufacturers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7A92B4"/>
                </a:solidFill>
                <a:latin typeface="Calibri"/>
              </a:rPr>
              <a:t>Regulators demand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7A92B4"/>
                </a:solidFill>
                <a:latin typeface="Calibri"/>
              </a:rPr>
              <a:t>Buyers need 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4ADE80"/>
                </a:solidFill>
                <a:latin typeface="Calibri"/>
              </a:rPr>
              <a:t>We provide it — from algorithm to physical sensor.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06240"/>
            <a:ext cx="11274552" cy="127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8F0FF"/>
                </a:solidFill>
                <a:latin typeface="Calibri"/>
              </a:rPr>
              <a:t>We built the layer that connects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A92B4"/>
                </a:solidFill>
                <a:latin typeface="Calibri"/>
              </a:rPr>
              <a:t>TrustLayer VeriCell  —  Trust the battery. Not just the paperwork.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